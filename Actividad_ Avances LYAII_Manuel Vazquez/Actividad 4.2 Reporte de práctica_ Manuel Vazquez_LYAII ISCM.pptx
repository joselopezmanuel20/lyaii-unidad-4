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67" r:id="rId15"/>
    <p:sldId id="268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6B1F8-166F-4DFF-B990-A82A22FE4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E864F-2AF8-4FEA-8F9A-7CAD44CFD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11039F-7FCF-4B91-9093-351101D56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19EDC-40CF-4BBA-87D5-94F09FBBF9AC}" type="datetimeFigureOut">
              <a:rPr lang="es-ES" smtClean="0"/>
              <a:t>04/10/2026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BD159C-6045-4DF0-81F8-7AF1EA6D6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8EEE59-8617-4920-B205-3842E3154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344C-FB17-4959-88DE-24BEFEF94E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1428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C010A-3DC0-48D9-B3D5-BE9BB00E1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DBFD29-9202-439E-A5AE-8A33C7343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D984DF-9A49-4B59-A108-C7B09F9AF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19EDC-40CF-4BBA-87D5-94F09FBBF9AC}" type="datetimeFigureOut">
              <a:rPr lang="es-ES" smtClean="0"/>
              <a:t>04/10/2026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84AEFF-AF75-4846-8136-B77F12566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69027A-1AE0-4A2C-9EEC-4497A2F33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344C-FB17-4959-88DE-24BEFEF94E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0972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2775EB-2E1D-4949-9CBA-C74B99C2B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7576DA-2606-4E50-BBD0-83CEA5CB8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9A6C8B-76E0-41AB-86F0-FD6CEFF7C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19EDC-40CF-4BBA-87D5-94F09FBBF9AC}" type="datetimeFigureOut">
              <a:rPr lang="es-ES" smtClean="0"/>
              <a:t>04/10/2026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E36C4A-A018-4930-B74F-2C4A5BCC1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A324DD-429D-4DC3-83B8-2845E44A3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344C-FB17-4959-88DE-24BEFEF94E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4372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F5955-D5A8-4610-8FB3-2FBDC6EF7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AD720A-9F3B-4C16-B313-96134BC137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630144-A119-44CD-85BD-A28A1BFDC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5A5E93-7251-47E6-8940-E26DF6F6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19EDC-40CF-4BBA-87D5-94F09FBBF9AC}" type="datetimeFigureOut">
              <a:rPr lang="es-ES" smtClean="0"/>
              <a:t>04/10/2026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99338E-473A-4858-9B3C-D43D82F57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1F7963-A268-4CEA-AA4A-0ECCC4F58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344C-FB17-4959-88DE-24BEFEF94E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2714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BBF1F-DABA-4996-B1A5-E447D08F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3AC23E-046A-413D-BF7A-D8FF4B613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B9D95C-A078-4D37-B10B-5B9F0825D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38D4B6F-50F0-4529-955E-1DCAC1911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905220D-7E49-485D-AC67-057EA5552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0B5FF56-219B-42AF-BB76-0B08F33F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19EDC-40CF-4BBA-87D5-94F09FBBF9AC}" type="datetimeFigureOut">
              <a:rPr lang="es-ES" smtClean="0"/>
              <a:t>04/10/2026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E252CE6-752A-4E43-B80E-E5CEF9538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D3778B7-3FCD-45D6-92AE-7916B553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344C-FB17-4959-88DE-24BEFEF94E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5111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02A132-8A64-4541-BA19-92DE0748B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A58497E-66B6-4AE6-88A5-F822F793B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19EDC-40CF-4BBA-87D5-94F09FBBF9AC}" type="datetimeFigureOut">
              <a:rPr lang="es-ES" smtClean="0"/>
              <a:t>04/10/2026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0943CF0-84CD-40D3-A565-A1062A199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8023887-02A7-455B-8333-95782B256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344C-FB17-4959-88DE-24BEFEF94E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2325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8B1CE2-C6BA-4043-90FA-220FC21FD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19EDC-40CF-4BBA-87D5-94F09FBBF9AC}" type="datetimeFigureOut">
              <a:rPr lang="es-ES" smtClean="0"/>
              <a:t>04/10/2026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B845477-4ADC-45DB-9945-2BCB3D73C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97C5DF-3A03-466E-A50F-360829D4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344C-FB17-4959-88DE-24BEFEF94E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799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D23B3-65EE-4DD6-9930-6DA9D6094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B79D24-0777-4A3E-9644-7EBE60286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A34C79-5868-4AB4-8FCB-7C3271F92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2238E7-2C89-43D5-8CE0-E950FD8D7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19EDC-40CF-4BBA-87D5-94F09FBBF9AC}" type="datetimeFigureOut">
              <a:rPr lang="es-ES" smtClean="0"/>
              <a:t>04/10/2026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FAFFF9-9CD2-4DF8-8A94-2B82CDF50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21EC18-94DE-44DB-959E-189AFB3A2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344C-FB17-4959-88DE-24BEFEF94E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8498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F147D-8048-4266-AE21-AF92B2406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3481C6-6131-4876-92A2-1D4480F3E0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5EF550-8DD4-43AF-B46D-125560650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14C9C5-D2B3-4D91-A2F1-90ABDD1A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19EDC-40CF-4BBA-87D5-94F09FBBF9AC}" type="datetimeFigureOut">
              <a:rPr lang="es-ES" smtClean="0"/>
              <a:t>04/10/2026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3E58DF-0D03-444D-8DBA-4758C98DB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5239D6-FBE8-43C9-857E-99459D283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344C-FB17-4959-88DE-24BEFEF94E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1405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4D64C-5938-4608-9846-4DA3D5C37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45A8D8-86D9-424C-94BD-D144AE9DD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9A7C4-FF95-48EC-B247-F0CDA5F19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19EDC-40CF-4BBA-87D5-94F09FBBF9AC}" type="datetimeFigureOut">
              <a:rPr lang="es-ES" smtClean="0"/>
              <a:t>04/10/2026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A1AD5D-BF40-494D-A7B0-B2AFBF36A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39EC81-697A-4EB7-941A-EC73366E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344C-FB17-4959-88DE-24BEFEF94E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9530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F8C1F3C-A292-49B7-9F74-58BD057A44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B605B27-01A0-4884-B202-20EA5DD6D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368260-AF4F-43AD-8505-453672F35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19EDC-40CF-4BBA-87D5-94F09FBBF9AC}" type="datetimeFigureOut">
              <a:rPr lang="es-ES" smtClean="0"/>
              <a:t>04/10/2026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122E60-50B2-43F3-9084-B2FE7031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12943C-7D2B-43E6-8E6D-18CCACDD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344C-FB17-4959-88DE-24BEFEF94E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5711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87BA9F-7EA6-4885-B465-F52D3FC20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C745A7-0E6E-435E-9EA4-59C38139F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1984B6-E63C-447C-B7A0-0C1A2E7E3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19EDC-40CF-4BBA-87D5-94F09FBBF9AC}" type="datetimeFigureOut">
              <a:rPr lang="es-ES" smtClean="0"/>
              <a:t>04/10/2026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84958B-AD7E-42FD-AF5D-61E137881E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D358F0-DF76-4E71-A17C-BB26C5127E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4344C-FB17-4959-88DE-24BEFEF94E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1630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1.png">
            <a:extLst>
              <a:ext uri="{FF2B5EF4-FFF2-40B4-BE49-F238E27FC236}">
                <a16:creationId xmlns:a16="http://schemas.microsoft.com/office/drawing/2014/main" id="{E7ECDB74-DAFE-4049-96AA-B30CF27E1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36" y="318542"/>
            <a:ext cx="2651760" cy="548945"/>
          </a:xfrm>
          <a:prstGeom prst="rect">
            <a:avLst/>
          </a:prstGeom>
        </p:spPr>
      </p:pic>
      <p:pic>
        <p:nvPicPr>
          <p:cNvPr id="5" name="Picture 4" descr="image2.png">
            <a:extLst>
              <a:ext uri="{FF2B5EF4-FFF2-40B4-BE49-F238E27FC236}">
                <a16:creationId xmlns:a16="http://schemas.microsoft.com/office/drawing/2014/main" id="{AECD12E9-B636-46B2-A3C2-0FB11F4AA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-5779"/>
            <a:ext cx="1965960" cy="964292"/>
          </a:xfrm>
          <a:prstGeom prst="rect">
            <a:avLst/>
          </a:prstGeom>
        </p:spPr>
      </p:pic>
      <p:pic>
        <p:nvPicPr>
          <p:cNvPr id="6" name="Picture 5" descr="image3.jpeg">
            <a:extLst>
              <a:ext uri="{FF2B5EF4-FFF2-40B4-BE49-F238E27FC236}">
                <a16:creationId xmlns:a16="http://schemas.microsoft.com/office/drawing/2014/main" id="{7A03EB51-7E2A-43F9-A11D-7DFC2F7CD1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4995" y="182466"/>
            <a:ext cx="1115568" cy="7760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13C3EF-B1BB-477B-ABC4-46C638BA1910}"/>
              </a:ext>
            </a:extLst>
          </p:cNvPr>
          <p:cNvSpPr txBox="1"/>
          <p:nvPr/>
        </p:nvSpPr>
        <p:spPr>
          <a:xfrm>
            <a:off x="3234112" y="1005840"/>
            <a:ext cx="5601855" cy="4893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232323"/>
                </a:solidFill>
                <a:latin typeface="Arial"/>
              </a:rPr>
              <a:t>TECNOLÓGICO NACIONAL DE MÉXICO</a:t>
            </a:r>
          </a:p>
          <a:p>
            <a:pPr algn="ctr"/>
            <a:r>
              <a:rPr sz="1600" b="1" dirty="0">
                <a:solidFill>
                  <a:srgbClr val="232323"/>
                </a:solidFill>
                <a:latin typeface="Arial"/>
              </a:rPr>
              <a:t>INSTITUTO TECNOLÓGICO DE FRONTERA COMALAPA</a:t>
            </a:r>
          </a:p>
          <a:p>
            <a:pPr algn="ctr"/>
            <a:endParaRPr sz="1600" b="1" dirty="0">
              <a:solidFill>
                <a:srgbClr val="232323"/>
              </a:solidFill>
              <a:latin typeface="Arial"/>
            </a:endParaRPr>
          </a:p>
          <a:p>
            <a:pPr algn="ctr"/>
            <a:r>
              <a:rPr sz="1400" b="1" dirty="0">
                <a:solidFill>
                  <a:srgbClr val="232323"/>
                </a:solidFill>
                <a:latin typeface="Arial"/>
              </a:rPr>
              <a:t>NOMBRE DE LA MATERIA</a:t>
            </a:r>
          </a:p>
          <a:p>
            <a:pPr algn="ctr"/>
            <a:r>
              <a:rPr sz="1400" b="0" dirty="0" err="1">
                <a:solidFill>
                  <a:srgbClr val="232323"/>
                </a:solidFill>
                <a:latin typeface="Arial"/>
              </a:rPr>
              <a:t>Lenguajes</a:t>
            </a:r>
            <a:r>
              <a:rPr sz="1400" b="0" dirty="0">
                <a:solidFill>
                  <a:srgbClr val="232323"/>
                </a:solidFill>
                <a:latin typeface="Arial"/>
              </a:rPr>
              <a:t> y </a:t>
            </a:r>
            <a:r>
              <a:rPr sz="1400" b="0" dirty="0" err="1">
                <a:solidFill>
                  <a:srgbClr val="232323"/>
                </a:solidFill>
                <a:latin typeface="Arial"/>
              </a:rPr>
              <a:t>Autómatas</a:t>
            </a:r>
            <a:r>
              <a:rPr sz="1400" b="0" dirty="0">
                <a:solidFill>
                  <a:srgbClr val="232323"/>
                </a:solidFill>
                <a:latin typeface="Arial"/>
              </a:rPr>
              <a:t> II</a:t>
            </a:r>
          </a:p>
          <a:p>
            <a:pPr algn="ctr"/>
            <a:endParaRPr sz="1400" b="0" dirty="0">
              <a:solidFill>
                <a:srgbClr val="232323"/>
              </a:solidFill>
              <a:latin typeface="Arial"/>
            </a:endParaRPr>
          </a:p>
          <a:p>
            <a:pPr algn="ctr"/>
            <a:r>
              <a:rPr sz="1400" b="1" dirty="0">
                <a:solidFill>
                  <a:srgbClr val="232323"/>
                </a:solidFill>
                <a:latin typeface="Arial"/>
              </a:rPr>
              <a:t>NOMBRE DEL ESTUDIANTE</a:t>
            </a:r>
          </a:p>
          <a:p>
            <a:pPr algn="ctr"/>
            <a:r>
              <a:rPr lang="es-MX" sz="1400" b="0" dirty="0">
                <a:solidFill>
                  <a:srgbClr val="232323"/>
                </a:solidFill>
                <a:latin typeface="Arial"/>
              </a:rPr>
              <a:t>Jose Manuel Vazquez Lopez</a:t>
            </a:r>
            <a:endParaRPr sz="1400" b="0" dirty="0">
              <a:solidFill>
                <a:srgbClr val="232323"/>
              </a:solidFill>
              <a:latin typeface="Arial"/>
            </a:endParaRPr>
          </a:p>
          <a:p>
            <a:pPr algn="ctr"/>
            <a:endParaRPr sz="1400" b="0" dirty="0">
              <a:solidFill>
                <a:srgbClr val="232323"/>
              </a:solidFill>
              <a:latin typeface="Arial"/>
            </a:endParaRPr>
          </a:p>
          <a:p>
            <a:pPr algn="ctr"/>
            <a:r>
              <a:rPr sz="1400" b="1" dirty="0">
                <a:solidFill>
                  <a:srgbClr val="232323"/>
                </a:solidFill>
                <a:latin typeface="Arial"/>
              </a:rPr>
              <a:t>CARRERA</a:t>
            </a:r>
          </a:p>
          <a:p>
            <a:pPr algn="ctr"/>
            <a:r>
              <a:rPr sz="1400" b="0" dirty="0">
                <a:solidFill>
                  <a:srgbClr val="232323"/>
                </a:solidFill>
                <a:latin typeface="Arial"/>
              </a:rPr>
              <a:t>INGENIERÍA EN SISTEMAS COMPUTACIONALES</a:t>
            </a:r>
          </a:p>
          <a:p>
            <a:pPr algn="ctr"/>
            <a:endParaRPr sz="1400" b="0" dirty="0">
              <a:solidFill>
                <a:srgbClr val="232323"/>
              </a:solidFill>
              <a:latin typeface="Arial"/>
            </a:endParaRPr>
          </a:p>
          <a:p>
            <a:pPr algn="ctr"/>
            <a:r>
              <a:rPr sz="1400" b="1" dirty="0">
                <a:solidFill>
                  <a:srgbClr val="232323"/>
                </a:solidFill>
                <a:latin typeface="Arial"/>
              </a:rPr>
              <a:t>SEMESTRE</a:t>
            </a:r>
          </a:p>
          <a:p>
            <a:pPr algn="ctr"/>
            <a:r>
              <a:rPr sz="1400" b="0" dirty="0">
                <a:solidFill>
                  <a:srgbClr val="232323"/>
                </a:solidFill>
                <a:latin typeface="Arial"/>
              </a:rPr>
              <a:t>SÉPTIMO SEMESTRE</a:t>
            </a:r>
          </a:p>
          <a:p>
            <a:pPr algn="ctr"/>
            <a:endParaRPr sz="1400" b="0" dirty="0">
              <a:solidFill>
                <a:srgbClr val="232323"/>
              </a:solidFill>
              <a:latin typeface="Arial"/>
            </a:endParaRPr>
          </a:p>
          <a:p>
            <a:pPr algn="ctr"/>
            <a:r>
              <a:rPr sz="1400" b="1" dirty="0">
                <a:solidFill>
                  <a:srgbClr val="232323"/>
                </a:solidFill>
                <a:latin typeface="Arial"/>
              </a:rPr>
              <a:t>NOMBRE DEL DOCENTE</a:t>
            </a:r>
          </a:p>
          <a:p>
            <a:pPr algn="ctr"/>
            <a:r>
              <a:rPr sz="1400" b="0" dirty="0">
                <a:solidFill>
                  <a:srgbClr val="232323"/>
                </a:solidFill>
                <a:latin typeface="Arial"/>
              </a:rPr>
              <a:t>Ing. Javier Francisco Mingo Velázquez</a:t>
            </a:r>
          </a:p>
          <a:p>
            <a:pPr algn="ctr"/>
            <a:endParaRPr sz="1400" b="0" dirty="0">
              <a:solidFill>
                <a:srgbClr val="232323"/>
              </a:solidFill>
              <a:latin typeface="Arial"/>
            </a:endParaRPr>
          </a:p>
          <a:p>
            <a:pPr algn="ctr"/>
            <a:r>
              <a:rPr sz="1400" b="1" dirty="0">
                <a:solidFill>
                  <a:srgbClr val="232323"/>
                </a:solidFill>
                <a:latin typeface="Arial"/>
              </a:rPr>
              <a:t>NOMBRE DEL TRABAJO</a:t>
            </a:r>
          </a:p>
          <a:p>
            <a:pPr algn="ctr"/>
            <a:r>
              <a:rPr lang="es-MX" sz="1300" b="0" dirty="0" err="1">
                <a:solidFill>
                  <a:srgbClr val="232323"/>
                </a:solidFill>
                <a:latin typeface="Arial"/>
              </a:rPr>
              <a:t>Act</a:t>
            </a:r>
            <a:r>
              <a:rPr lang="es-MX" sz="1300" b="0" dirty="0">
                <a:solidFill>
                  <a:srgbClr val="232323"/>
                </a:solidFill>
                <a:latin typeface="Arial"/>
              </a:rPr>
              <a:t> 4.2 </a:t>
            </a:r>
            <a:r>
              <a:rPr sz="1300" b="0" dirty="0" err="1">
                <a:solidFill>
                  <a:srgbClr val="232323"/>
                </a:solidFill>
                <a:latin typeface="Arial"/>
              </a:rPr>
              <a:t>Reporte</a:t>
            </a:r>
            <a:r>
              <a:rPr sz="1300" b="0" dirty="0">
                <a:solidFill>
                  <a:srgbClr val="232323"/>
                </a:solidFill>
                <a:latin typeface="Arial"/>
              </a:rPr>
              <a:t> de </a:t>
            </a:r>
            <a:r>
              <a:rPr sz="1300" b="0" dirty="0" err="1">
                <a:solidFill>
                  <a:srgbClr val="232323"/>
                </a:solidFill>
                <a:latin typeface="Arial"/>
              </a:rPr>
              <a:t>práctica</a:t>
            </a:r>
            <a:endParaRPr lang="es-MX" sz="1300" dirty="0">
              <a:solidFill>
                <a:srgbClr val="232323"/>
              </a:solidFill>
              <a:latin typeface="Arial"/>
            </a:endParaRPr>
          </a:p>
          <a:p>
            <a:pPr algn="ctr"/>
            <a:r>
              <a:rPr sz="1400" b="1" dirty="0">
                <a:solidFill>
                  <a:srgbClr val="232323"/>
                </a:solidFill>
                <a:latin typeface="Arial"/>
              </a:rPr>
              <a:t>LUGAR Y FECHA</a:t>
            </a:r>
          </a:p>
          <a:p>
            <a:pPr algn="ctr"/>
            <a:r>
              <a:rPr sz="1300" b="0" dirty="0">
                <a:solidFill>
                  <a:srgbClr val="232323"/>
                </a:solidFill>
                <a:latin typeface="Arial"/>
              </a:rPr>
              <a:t>Frontera </a:t>
            </a:r>
            <a:r>
              <a:rPr sz="1300" b="0" dirty="0" err="1">
                <a:solidFill>
                  <a:srgbClr val="232323"/>
                </a:solidFill>
                <a:latin typeface="Arial"/>
              </a:rPr>
              <a:t>Comalapa</a:t>
            </a:r>
            <a:r>
              <a:rPr sz="1300" b="0" dirty="0">
                <a:solidFill>
                  <a:srgbClr val="232323"/>
                </a:solidFill>
                <a:latin typeface="Arial"/>
              </a:rPr>
              <a:t>, Chiapas </a:t>
            </a:r>
            <a:r>
              <a:rPr lang="es-MX" sz="1300" dirty="0">
                <a:solidFill>
                  <a:srgbClr val="232323"/>
                </a:solidFill>
                <a:latin typeface="Arial"/>
              </a:rPr>
              <a:t>04</a:t>
            </a:r>
            <a:r>
              <a:rPr lang="es-MX" sz="1300" b="0" dirty="0">
                <a:solidFill>
                  <a:srgbClr val="232323"/>
                </a:solidFill>
                <a:latin typeface="Arial"/>
              </a:rPr>
              <a:t> de octubre</a:t>
            </a:r>
            <a:r>
              <a:rPr sz="1300" b="0" dirty="0">
                <a:solidFill>
                  <a:srgbClr val="232323"/>
                </a:solidFill>
                <a:latin typeface="Arial"/>
              </a:rPr>
              <a:t> de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7254B7-697F-4DB7-BC6C-D3E7CDCB3C39}"/>
              </a:ext>
            </a:extLst>
          </p:cNvPr>
          <p:cNvSpPr txBox="1"/>
          <p:nvPr/>
        </p:nvSpPr>
        <p:spPr>
          <a:xfrm>
            <a:off x="11567160" y="6400800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76857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B42F59C4-64CC-487C-9BCD-42025749E366}"/>
              </a:ext>
            </a:extLst>
          </p:cNvPr>
          <p:cNvSpPr txBox="1"/>
          <p:nvPr/>
        </p:nvSpPr>
        <p:spPr>
          <a:xfrm>
            <a:off x="701040" y="544158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dirty="0" err="1">
                <a:solidFill>
                  <a:srgbClr val="232323"/>
                </a:solidFill>
                <a:latin typeface="Arial"/>
              </a:rPr>
              <a:t>Introducción</a:t>
            </a:r>
            <a:endParaRPr sz="2600" b="1" dirty="0">
              <a:solidFill>
                <a:srgbClr val="232323"/>
              </a:solidFill>
              <a:latin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EA4E52D-8D40-4B4D-8FA5-6F1A5F84A20C}"/>
              </a:ext>
            </a:extLst>
          </p:cNvPr>
          <p:cNvSpPr txBox="1"/>
          <p:nvPr/>
        </p:nvSpPr>
        <p:spPr>
          <a:xfrm>
            <a:off x="701040" y="1392775"/>
            <a:ext cx="1083653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/>
            <a:r>
              <a:rPr lang="es-MX" sz="2000" dirty="0"/>
              <a:t>Un compilador es un programa que traduce un código fuente escrito en un lenguaje de alto nivel a otra representación que la máquina pueda ejecutar. Este proceso se divide en fases: análisis léxico, análisis sintáctico, análisis semántico y generación de código. Cada fase revisa una parte distinta del programa y pasa su resultado a la siguiente.</a:t>
            </a:r>
          </a:p>
          <a:p>
            <a:pPr algn="just" rtl="0"/>
            <a:r>
              <a:rPr lang="es-MX" sz="2000" dirty="0"/>
              <a:t>Este proyecto presenta un analizador semántico desarrollado en Java con interfaz gráfica en </a:t>
            </a:r>
            <a:r>
              <a:rPr lang="es-MX" sz="2000" dirty="0" err="1"/>
              <a:t>JavaFX</a:t>
            </a:r>
            <a:r>
              <a:rPr lang="es-MX" sz="2000" dirty="0"/>
              <a:t>. La aplicación recibe un código fuente escrito por el usuario y lo procesa por etapas: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s-MX" sz="2000" dirty="0"/>
              <a:t>Análisis léxico: divide el texto en tokens (tipo, lexema, línea y columna).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s-MX" sz="2000" dirty="0"/>
              <a:t>Análisis sintáctico: verifica que las instrucciones respeten la estructura del lenguaje y construye un árbol de sintaxis abstracta (AST).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s-MX" sz="2000" dirty="0"/>
              <a:t>Análisis semántico: comprueba el significado del programa, como la declaración previa de variables, la compatibilidad de tipos y la división entre cero. Para ello usa una tabla de símbolos.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s-MX" sz="2000" dirty="0"/>
              <a:t>Generación de código objeto: produce una representación de bajo nivel con fines educativos.</a:t>
            </a:r>
          </a:p>
        </p:txBody>
      </p:sp>
    </p:spTree>
    <p:extLst>
      <p:ext uri="{BB962C8B-B14F-4D97-AF65-F5344CB8AC3E}">
        <p14:creationId xmlns:p14="http://schemas.microsoft.com/office/powerpoint/2010/main" val="826660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C9F9F8-B2E6-498B-98B5-8FE310B96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88" y="550011"/>
            <a:ext cx="10670323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2800" b="1" dirty="0"/>
              <a:t>Justificación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2800" b="1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/>
              <a:t>Los conceptos de la teoría de compiladores, como tokens, gramáticas, árboles sintácticos y tablas de símbolos, suelen resultar abstractos cuando solo se estudian en papel. Un analizador funcional permite ver cada fase en acción y entender qué ocurre desde que se escribe una línea de código hasta que se detecta un error o se genera una salida.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/>
              <a:t>El análisis semántico es la fase que detecta errores que el análisis sintáctico no puede ver. Una instrucción como x = nombre; puede estar bien escrita y aun así ser incorrecta, porque asigna un texto a una variable numérica. Detectar estos casos antes de la ejecución evita fallos y mejora la calidad del software. Por eso el proyecto se centra en validar variables repetidas, variables no declaradas, tipos incompatibles y división entre cero.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/>
              <a:t>La elección de Java y </a:t>
            </a:r>
            <a:r>
              <a:rPr lang="es-ES" altLang="es-ES" dirty="0" err="1"/>
              <a:t>JavaFX</a:t>
            </a:r>
            <a:r>
              <a:rPr lang="es-ES" altLang="es-ES" dirty="0"/>
              <a:t> se justifica por varias razones: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dirty="0"/>
              <a:t>Java es un lenguaje orientado a objetos y muy usado en la formación de ingenieros en sistemas, lo que facilita organizar cada fase del compilador en clases independientes (</a:t>
            </a:r>
            <a:r>
              <a:rPr lang="es-ES" altLang="es-ES" dirty="0" err="1"/>
              <a:t>Lexer</a:t>
            </a:r>
            <a:r>
              <a:rPr lang="es-ES" altLang="es-ES" dirty="0"/>
              <a:t>, </a:t>
            </a:r>
            <a:r>
              <a:rPr lang="es-ES" altLang="es-ES" dirty="0" err="1"/>
              <a:t>Parser</a:t>
            </a:r>
            <a:r>
              <a:rPr lang="es-ES" altLang="es-ES" dirty="0"/>
              <a:t>, </a:t>
            </a:r>
            <a:r>
              <a:rPr lang="es-ES" altLang="es-ES" dirty="0" err="1"/>
              <a:t>SemanticAnalyzer</a:t>
            </a:r>
            <a:r>
              <a:rPr lang="es-ES" altLang="es-ES" dirty="0"/>
              <a:t>, </a:t>
            </a:r>
            <a:r>
              <a:rPr lang="es-ES" altLang="es-ES" dirty="0" err="1"/>
              <a:t>CodeGenerator</a:t>
            </a:r>
            <a:r>
              <a:rPr lang="es-ES" altLang="es-ES" dirty="0"/>
              <a:t>).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dirty="0" err="1"/>
              <a:t>JavaFX</a:t>
            </a:r>
            <a:r>
              <a:rPr lang="es-ES" altLang="es-ES" dirty="0"/>
              <a:t> permite construir una interfaz clara donde se visualizan los resultados de cada etapa, sin depender de la consola.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dirty="0"/>
              <a:t>Maven facilita la gestión de dependencias y la ejecución del proyecto en cualquier equipo.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dirty="0"/>
          </a:p>
        </p:txBody>
      </p:sp>
    </p:spTree>
    <p:extLst>
      <p:ext uri="{BB962C8B-B14F-4D97-AF65-F5344CB8AC3E}">
        <p14:creationId xmlns:p14="http://schemas.microsoft.com/office/powerpoint/2010/main" val="2540820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217FE7-483D-4D5A-8195-1A0939766371}"/>
              </a:ext>
            </a:extLst>
          </p:cNvPr>
          <p:cNvSpPr txBox="1"/>
          <p:nvPr/>
        </p:nvSpPr>
        <p:spPr>
          <a:xfrm>
            <a:off x="502920" y="301752"/>
            <a:ext cx="108356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dirty="0">
                <a:solidFill>
                  <a:srgbClr val="232323"/>
                </a:solidFill>
                <a:latin typeface="Arial"/>
              </a:rPr>
              <a:t>Desarrollo: </a:t>
            </a:r>
            <a:r>
              <a:rPr sz="2500" b="1" dirty="0" err="1">
                <a:solidFill>
                  <a:srgbClr val="232323"/>
                </a:solidFill>
                <a:latin typeface="Arial"/>
              </a:rPr>
              <a:t>Creación</a:t>
            </a:r>
            <a:r>
              <a:rPr sz="2500" b="1" dirty="0">
                <a:solidFill>
                  <a:srgbClr val="232323"/>
                </a:solidFill>
                <a:latin typeface="Arial"/>
              </a:rPr>
              <a:t> del </a:t>
            </a:r>
            <a:r>
              <a:rPr sz="2500" b="1" dirty="0" err="1">
                <a:solidFill>
                  <a:srgbClr val="232323"/>
                </a:solidFill>
                <a:latin typeface="Arial"/>
              </a:rPr>
              <a:t>proyecto</a:t>
            </a:r>
            <a:r>
              <a:rPr sz="2500" b="1" dirty="0">
                <a:solidFill>
                  <a:srgbClr val="232323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232323"/>
                </a:solidFill>
                <a:latin typeface="Arial"/>
              </a:rPr>
              <a:t>en</a:t>
            </a:r>
            <a:r>
              <a:rPr sz="2500" b="1" dirty="0">
                <a:solidFill>
                  <a:srgbClr val="232323"/>
                </a:solidFill>
                <a:latin typeface="Arial"/>
              </a:rPr>
              <a:t> IntelliJ IDEA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7705E6-1466-42A6-A38B-34C6634206FC}"/>
              </a:ext>
            </a:extLst>
          </p:cNvPr>
          <p:cNvSpPr txBox="1"/>
          <p:nvPr/>
        </p:nvSpPr>
        <p:spPr>
          <a:xfrm>
            <a:off x="566928" y="932688"/>
            <a:ext cx="10561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Arial"/>
              </a:rPr>
              <a:t>Se inició la práctica creando un proyecto Java en IntelliJ IDEA y seleccionando JDK 21. A partir de esta estructura se organizaron las clases necesarias para construir el compilador.</a:t>
            </a:r>
          </a:p>
        </p:txBody>
      </p:sp>
      <p:pic>
        <p:nvPicPr>
          <p:cNvPr id="4" name="Picture 3" descr="image(20261001-042927).png">
            <a:extLst>
              <a:ext uri="{FF2B5EF4-FFF2-40B4-BE49-F238E27FC236}">
                <a16:creationId xmlns:a16="http://schemas.microsoft.com/office/drawing/2014/main" id="{DE006E98-4BE3-4F48-906B-08BFEE269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084" y="1874519"/>
            <a:ext cx="4686710" cy="425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00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0E612F-0EAF-4306-97DB-3E124B91ECB5}"/>
              </a:ext>
            </a:extLst>
          </p:cNvPr>
          <p:cNvSpPr txBox="1"/>
          <p:nvPr/>
        </p:nvSpPr>
        <p:spPr>
          <a:xfrm>
            <a:off x="502920" y="301752"/>
            <a:ext cx="108356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dirty="0">
                <a:solidFill>
                  <a:srgbClr val="232323"/>
                </a:solidFill>
                <a:latin typeface="Arial"/>
              </a:rPr>
              <a:t>Desarrollo: </a:t>
            </a:r>
            <a:r>
              <a:rPr sz="2500" b="1" dirty="0" err="1">
                <a:solidFill>
                  <a:srgbClr val="232323"/>
                </a:solidFill>
                <a:latin typeface="Arial"/>
              </a:rPr>
              <a:t>Estructura</a:t>
            </a:r>
            <a:r>
              <a:rPr sz="2500" b="1" dirty="0">
                <a:solidFill>
                  <a:srgbClr val="232323"/>
                </a:solidFill>
                <a:latin typeface="Arial"/>
              </a:rPr>
              <a:t> general del </a:t>
            </a:r>
            <a:r>
              <a:rPr sz="2500" b="1" dirty="0" err="1">
                <a:solidFill>
                  <a:srgbClr val="232323"/>
                </a:solidFill>
                <a:latin typeface="Arial"/>
              </a:rPr>
              <a:t>compilador</a:t>
            </a:r>
            <a:endParaRPr sz="2500" b="1" dirty="0">
              <a:solidFill>
                <a:srgbClr val="232323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16A25-3A16-4D46-9161-44F5FB967ABF}"/>
              </a:ext>
            </a:extLst>
          </p:cNvPr>
          <p:cNvSpPr txBox="1"/>
          <p:nvPr/>
        </p:nvSpPr>
        <p:spPr>
          <a:xfrm>
            <a:off x="566928" y="932688"/>
            <a:ext cx="105613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232323"/>
                </a:solidFill>
                <a:latin typeface="Arial"/>
              </a:rPr>
              <a:t>El </a:t>
            </a:r>
            <a:r>
              <a:rPr sz="1500" b="0" dirty="0" err="1">
                <a:solidFill>
                  <a:srgbClr val="232323"/>
                </a:solidFill>
                <a:latin typeface="Arial"/>
              </a:rPr>
              <a:t>proyecto</a:t>
            </a:r>
            <a:r>
              <a:rPr sz="1500" b="0" dirty="0">
                <a:solidFill>
                  <a:srgbClr val="232323"/>
                </a:solidFill>
                <a:latin typeface="Arial"/>
              </a:rPr>
              <a:t> se </a:t>
            </a:r>
            <a:r>
              <a:rPr sz="1500" b="0" dirty="0" err="1">
                <a:solidFill>
                  <a:srgbClr val="232323"/>
                </a:solidFill>
                <a:latin typeface="Arial"/>
              </a:rPr>
              <a:t>organizó</a:t>
            </a:r>
            <a:r>
              <a:rPr sz="1500" b="0" dirty="0">
                <a:solidFill>
                  <a:srgbClr val="232323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32323"/>
                </a:solidFill>
                <a:latin typeface="Arial"/>
              </a:rPr>
              <a:t>en</a:t>
            </a:r>
            <a:r>
              <a:rPr sz="1500" b="0" dirty="0">
                <a:solidFill>
                  <a:srgbClr val="232323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32323"/>
                </a:solidFill>
                <a:latin typeface="Arial"/>
              </a:rPr>
              <a:t>varias</a:t>
            </a:r>
            <a:r>
              <a:rPr sz="1500" b="0" dirty="0">
                <a:solidFill>
                  <a:srgbClr val="232323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32323"/>
                </a:solidFill>
                <a:latin typeface="Arial"/>
              </a:rPr>
              <a:t>clases</a:t>
            </a:r>
            <a:r>
              <a:rPr sz="1500" b="0" dirty="0">
                <a:solidFill>
                  <a:srgbClr val="232323"/>
                </a:solidFill>
                <a:latin typeface="Arial"/>
              </a:rPr>
              <a:t> dentro del </a:t>
            </a:r>
            <a:r>
              <a:rPr sz="1500" b="0" dirty="0" err="1">
                <a:solidFill>
                  <a:srgbClr val="232323"/>
                </a:solidFill>
                <a:latin typeface="Arial"/>
              </a:rPr>
              <a:t>paquete</a:t>
            </a:r>
            <a:r>
              <a:rPr sz="1500" b="0" dirty="0">
                <a:solidFill>
                  <a:srgbClr val="232323"/>
                </a:solidFill>
                <a:latin typeface="Arial"/>
              </a:rPr>
              <a:t> com.</a:t>
            </a:r>
            <a:r>
              <a:rPr lang="es-MX" sz="1500" b="0" dirty="0" err="1">
                <a:solidFill>
                  <a:srgbClr val="232323"/>
                </a:solidFill>
                <a:latin typeface="Arial"/>
              </a:rPr>
              <a:t>manuel</a:t>
            </a:r>
            <a:r>
              <a:rPr sz="1500" b="0" dirty="0">
                <a:solidFill>
                  <a:srgbClr val="232323"/>
                </a:solidFill>
                <a:latin typeface="Arial"/>
              </a:rPr>
              <a:t>.compiler. </a:t>
            </a:r>
            <a:r>
              <a:rPr sz="1500" b="0" dirty="0" err="1">
                <a:solidFill>
                  <a:srgbClr val="232323"/>
                </a:solidFill>
                <a:latin typeface="Arial"/>
              </a:rPr>
              <a:t>Cada</a:t>
            </a:r>
            <a:r>
              <a:rPr sz="1500" b="0" dirty="0">
                <a:solidFill>
                  <a:srgbClr val="232323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32323"/>
                </a:solidFill>
                <a:latin typeface="Arial"/>
              </a:rPr>
              <a:t>clase</a:t>
            </a:r>
            <a:r>
              <a:rPr sz="1500" b="0" dirty="0">
                <a:solidFill>
                  <a:srgbClr val="232323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32323"/>
                </a:solidFill>
                <a:latin typeface="Arial"/>
              </a:rPr>
              <a:t>cumple</a:t>
            </a:r>
            <a:r>
              <a:rPr sz="1500" b="0" dirty="0">
                <a:solidFill>
                  <a:srgbClr val="232323"/>
                </a:solidFill>
                <a:latin typeface="Arial"/>
              </a:rPr>
              <a:t> una </a:t>
            </a:r>
            <a:r>
              <a:rPr sz="1500" b="0" dirty="0" err="1">
                <a:solidFill>
                  <a:srgbClr val="232323"/>
                </a:solidFill>
                <a:latin typeface="Arial"/>
              </a:rPr>
              <a:t>función</a:t>
            </a:r>
            <a:r>
              <a:rPr sz="1500" b="0" dirty="0">
                <a:solidFill>
                  <a:srgbClr val="232323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232323"/>
                </a:solidFill>
                <a:latin typeface="Arial"/>
              </a:rPr>
              <a:t>específica</a:t>
            </a:r>
            <a:r>
              <a:rPr sz="1500" b="0" dirty="0">
                <a:solidFill>
                  <a:srgbClr val="232323"/>
                </a:solidFill>
                <a:latin typeface="Arial"/>
              </a:rPr>
              <a:t> dentro del </a:t>
            </a:r>
            <a:r>
              <a:rPr sz="1500" b="0" dirty="0" err="1">
                <a:solidFill>
                  <a:srgbClr val="232323"/>
                </a:solidFill>
                <a:latin typeface="Arial"/>
              </a:rPr>
              <a:t>proceso</a:t>
            </a:r>
            <a:r>
              <a:rPr sz="1500" b="0" dirty="0">
                <a:solidFill>
                  <a:srgbClr val="232323"/>
                </a:solidFill>
                <a:latin typeface="Arial"/>
              </a:rPr>
              <a:t> de </a:t>
            </a:r>
            <a:r>
              <a:rPr sz="1500" b="0" dirty="0" err="1">
                <a:solidFill>
                  <a:srgbClr val="232323"/>
                </a:solidFill>
                <a:latin typeface="Arial"/>
              </a:rPr>
              <a:t>compilación</a:t>
            </a:r>
            <a:r>
              <a:rPr sz="1500" b="0" dirty="0">
                <a:solidFill>
                  <a:srgbClr val="232323"/>
                </a:solidFill>
                <a:latin typeface="Arial"/>
              </a:rPr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3F1BE32-6C37-42C1-8729-59C6C9E82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287" y="1892808"/>
            <a:ext cx="7715425" cy="433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41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486DDEF-B5FA-45A0-8E20-5BF972265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145415"/>
            <a:ext cx="5837486" cy="328358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EFC22EB-B0D8-4A8C-A163-7208C42CD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760" y="314407"/>
            <a:ext cx="517144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/>
              <a:t>Es el generador de código de tu compilador: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dirty="0"/>
              <a:t>Recibe el programa ya analizado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dirty="0"/>
              <a:t>Convierte cada instrucción (declarar, asignar, imprimir) a código ensamblador simplificado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dirty="0"/>
              <a:t>Usa instrucciones como PUSH, STORE, PRINT, HALT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dirty="0"/>
              <a:t>Todo lo construye en un texto y lo devuelve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/>
              <a:t>En una frase: pasa tu código a instrucciones que la máquina simulada entiende.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67D1D5C-EBE9-4720-8C98-CFB6C022C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766" y="3468923"/>
            <a:ext cx="5466080" cy="307467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DC04505B-2864-454D-9F4C-D016DEB40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1" y="3744374"/>
            <a:ext cx="5466080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600"/>
              <a:t>Esto es un registro (record) de Java que agrupa todo lo que produce el compilador en un solo objeto: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/>
              <a:t>tokens: lista de elementos léxicos que identificó el analizador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/>
              <a:t>ast: estructura con el programa ya parseado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/>
              <a:t>semanticResult: resultados del análisis semántico (errores o validaciones)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/>
              <a:t>generatedCode: el código final traducido a instrucciones de bajo nivel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600"/>
              <a:t>En una frase: guarda todos los resultados del proceso completo de compilación para entregarlos juntos.</a:t>
            </a:r>
          </a:p>
        </p:txBody>
      </p:sp>
    </p:spTree>
    <p:extLst>
      <p:ext uri="{BB962C8B-B14F-4D97-AF65-F5344CB8AC3E}">
        <p14:creationId xmlns:p14="http://schemas.microsoft.com/office/powerpoint/2010/main" val="1828999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5156C95-771C-4B7C-A768-A68174E07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76" y="111760"/>
            <a:ext cx="5725724" cy="322072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C4DF78A-792B-4A65-B3D3-64769CC3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648" y="3429000"/>
            <a:ext cx="5617351" cy="315976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DE01682-04CE-4ECC-BAEF-C7F853E9D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648" y="111760"/>
            <a:ext cx="5617351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16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/>
              <a:t>scanTokens(): recorre todo el texto y va llamando a scanToken() hasta terminar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/>
              <a:t>scanToken(): mira cada símbolo con un switch: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/>
              <a:t>Reconoce operadores: + - * / = ( ) , ;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/>
              <a:t>Maneja comentarios (/* ... */) y espacios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/>
              <a:t>Detecta números, identificadores y cadenas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/>
              <a:t>Si encuentra algo desconocido → lanza error léxico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/>
              <a:t>Al final agrega el token especial EOF para indicar fin de entrada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600"/>
              <a:t>En una frase: parte tu código en piezas reconocibles para que el analizador sintáctico las procese.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C5E833D-9542-4D39-A4DE-77A145216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1" y="3623886"/>
            <a:ext cx="5617351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/>
              <a:t>Es la excepción personalizada para errores en el análisis léxico: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dirty="0"/>
              <a:t>Hereda de </a:t>
            </a:r>
            <a:r>
              <a:rPr lang="es-ES" altLang="es-ES" dirty="0" err="1"/>
              <a:t>RuntimeException</a:t>
            </a:r>
            <a:r>
              <a:rPr lang="es-ES" altLang="es-ES" dirty="0"/>
              <a:t> → se lanza cuando el </a:t>
            </a:r>
            <a:r>
              <a:rPr lang="es-ES" altLang="es-ES" dirty="0" err="1"/>
              <a:t>Lexer</a:t>
            </a:r>
            <a:r>
              <a:rPr lang="es-ES" altLang="es-ES" dirty="0"/>
              <a:t> encuentra un símbolo inválido o no reconocido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dirty="0"/>
              <a:t>Tiene un constructor que recibe el mensaje de error y lo envía a la clase padre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dirty="0"/>
              <a:t>Se usa para indicar: "hay un carácter o secuencia que no se entiende"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/>
              <a:t>En una frase: es el aviso que salta cuando el analizador léxico choca con algo que no sabe interpretar.</a:t>
            </a:r>
          </a:p>
        </p:txBody>
      </p:sp>
    </p:spTree>
    <p:extLst>
      <p:ext uri="{BB962C8B-B14F-4D97-AF65-F5344CB8AC3E}">
        <p14:creationId xmlns:p14="http://schemas.microsoft.com/office/powerpoint/2010/main" val="1129875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F51F799-E68A-4339-982A-1E63F1B91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" y="182880"/>
            <a:ext cx="5262880" cy="296037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7A1E790-FDD5-45AB-9133-3D6F4A04F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352800"/>
            <a:ext cx="5617351" cy="315976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2C9C1F6-2EFA-428C-A9B5-84690B1A736B}"/>
              </a:ext>
            </a:extLst>
          </p:cNvPr>
          <p:cNvSpPr txBox="1"/>
          <p:nvPr/>
        </p:nvSpPr>
        <p:spPr>
          <a:xfrm>
            <a:off x="5856675" y="182880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400" b="0" dirty="0">
                <a:solidFill>
                  <a:srgbClr val="000000"/>
                </a:solidFill>
                <a:effectLst/>
                <a:latin typeface="ui-sans-serif"/>
              </a:rPr>
              <a:t>Esta es la interfaz gráfica principal (</a:t>
            </a:r>
            <a:r>
              <a:rPr lang="es-MX" sz="1400" b="0" dirty="0" err="1">
                <a:solidFill>
                  <a:srgbClr val="000000"/>
                </a:solidFill>
                <a:effectLst/>
                <a:latin typeface="ui-sans-serif"/>
              </a:rPr>
              <a:t>JavaFX</a:t>
            </a:r>
            <a:r>
              <a:rPr lang="es-MX" sz="1400" b="0" dirty="0">
                <a:solidFill>
                  <a:srgbClr val="000000"/>
                </a:solidFill>
                <a:effectLst/>
                <a:latin typeface="ui-sans-serif"/>
              </a:rPr>
              <a:t>) de tu proyecto: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400" b="0" dirty="0">
                <a:solidFill>
                  <a:srgbClr val="000000"/>
                </a:solidFill>
                <a:effectLst/>
                <a:latin typeface="ui-sans-serif"/>
              </a:rPr>
              <a:t>Es la ventana donde el usuario escribe su código y ve todos los resultados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400" b="0" dirty="0">
                <a:solidFill>
                  <a:srgbClr val="000000"/>
                </a:solidFill>
                <a:effectLst/>
                <a:latin typeface="ui-sans-serif"/>
              </a:rPr>
              <a:t>Tiene zonas separadas para: Entrada del código fuente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400" b="0" dirty="0">
                <a:solidFill>
                  <a:srgbClr val="000000"/>
                </a:solidFill>
                <a:effectLst/>
                <a:latin typeface="ui-sans-serif"/>
              </a:rPr>
              <a:t> Mensajes de error o estado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400" b="0" dirty="0">
                <a:solidFill>
                  <a:srgbClr val="000000"/>
                </a:solidFill>
                <a:effectLst/>
                <a:latin typeface="ui-sans-serif"/>
              </a:rPr>
              <a:t> Código generado en ensamblador simplificado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400" b="0" dirty="0">
                <a:solidFill>
                  <a:srgbClr val="000000"/>
                </a:solidFill>
                <a:effectLst/>
                <a:latin typeface="ui-sans-serif"/>
              </a:rPr>
              <a:t> Lista de tokens reconocidos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400" b="0" dirty="0">
                <a:solidFill>
                  <a:srgbClr val="000000"/>
                </a:solidFill>
                <a:effectLst/>
                <a:latin typeface="ui-sans-serif"/>
              </a:rPr>
              <a:t> Tabla de símbolos (variables, tipos, valores)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400" b="0" dirty="0">
                <a:solidFill>
                  <a:srgbClr val="000000"/>
                </a:solidFill>
                <a:effectLst/>
                <a:latin typeface="ui-sans-serif"/>
              </a:rPr>
              <a:t>Ya trae un ejemplo precargado para probar de inmediato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400" b="0" dirty="0">
                <a:solidFill>
                  <a:srgbClr val="000000"/>
                </a:solidFill>
                <a:effectLst/>
                <a:latin typeface="ui-sans-serif"/>
              </a:rPr>
              <a:t>Es el punto de arranque: une todo el proceso —léxico → sintáctico → semántico → generación de código— y lo muestra al usuario</a:t>
            </a:r>
          </a:p>
          <a:p>
            <a:pPr algn="l"/>
            <a:r>
              <a:rPr lang="es-MX" sz="1400" b="0" dirty="0">
                <a:solidFill>
                  <a:srgbClr val="000000"/>
                </a:solidFill>
                <a:effectLst/>
                <a:latin typeface="ui-sans-serif"/>
              </a:rPr>
              <a:t>En una frase: es la pantalla donde se usa el compilador, se escribe código y se ven todos los pasos y resultados.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F1B8927-D3B7-4ADB-B27F-427A00682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440" y="3424575"/>
            <a:ext cx="5262880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400"/>
              <a:t>Esta es la clase coordinadora de todo el proceso de compilación: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sz="14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400"/>
              <a:t>Lo que hace paso a paso: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s-ES" altLang="es-ES" sz="1400"/>
              <a:t>Recibe el código fuente como texto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s-ES" altLang="es-ES" sz="1400"/>
              <a:t>Llama al Lexer → convierte el texto en lista de tokens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s-ES" altLang="es-ES" sz="1400"/>
              <a:t>Llama al Parser → construye la estructura del programa (AST)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s-ES" altLang="es-ES" sz="1400"/>
              <a:t>Llama al Analizador Semántico → valida tipos, declaraciones, coherencia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lang="es-ES" altLang="es-ES" sz="1400"/>
              <a:t>Si no hay errores semánticos → llama al CodeGenerator → produce el código de bajo nivel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lang="es-ES" altLang="es-ES" sz="1400"/>
              <a:t>Devuelve todo junto en un CompilerResult: tokens, estructura, análisis y código generado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400"/>
              <a:t>En una frase: es el director que va pasando el código por cada etapa y entrega el resultado final completo.</a:t>
            </a:r>
          </a:p>
        </p:txBody>
      </p:sp>
    </p:spTree>
    <p:extLst>
      <p:ext uri="{BB962C8B-B14F-4D97-AF65-F5344CB8AC3E}">
        <p14:creationId xmlns:p14="http://schemas.microsoft.com/office/powerpoint/2010/main" val="335093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A64B062-0283-4BC8-969E-0A361785B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56210"/>
            <a:ext cx="5538329" cy="311531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786AA53-0E64-4C08-810C-E320CE484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368" y="3271520"/>
            <a:ext cx="6267591" cy="352552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3502F37-C80A-4CDC-B137-ECF2E29B2124}"/>
              </a:ext>
            </a:extLst>
          </p:cNvPr>
          <p:cNvSpPr txBox="1"/>
          <p:nvPr/>
        </p:nvSpPr>
        <p:spPr>
          <a:xfrm>
            <a:off x="6247273" y="308600"/>
            <a:ext cx="575168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400" b="0" dirty="0">
                <a:solidFill>
                  <a:srgbClr val="000000"/>
                </a:solidFill>
                <a:effectLst/>
                <a:latin typeface="ui-sans-serif"/>
              </a:rPr>
              <a:t>Esta es la validación semántica — comprueba que el código tenga sentido y coherencia, no solo que esté bien escrito:</a:t>
            </a:r>
          </a:p>
          <a:p>
            <a:pPr algn="l"/>
            <a:r>
              <a:rPr lang="es-MX" sz="1400" b="0" dirty="0">
                <a:solidFill>
                  <a:srgbClr val="000000"/>
                </a:solidFill>
                <a:effectLst/>
                <a:latin typeface="ui-sans-serif"/>
              </a:rPr>
              <a:t>Qué hace: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400" b="0" dirty="0">
                <a:solidFill>
                  <a:srgbClr val="000000"/>
                </a:solidFill>
                <a:effectLst/>
                <a:latin typeface="ui-sans-serif"/>
              </a:rPr>
              <a:t>Mantiene la tabla de símbolos: registra cada variable con su nombre, tipo y línea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400" b="0" dirty="0">
                <a:solidFill>
                  <a:srgbClr val="000000"/>
                </a:solidFill>
                <a:effectLst/>
                <a:latin typeface="ui-sans-serif"/>
              </a:rPr>
              <a:t>Recorre cada instrucción del programa: Al declarar una variable: verifica que no se haya declarado antes → la registra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400" b="0" dirty="0">
                <a:solidFill>
                  <a:srgbClr val="000000"/>
                </a:solidFill>
                <a:effectLst/>
                <a:latin typeface="ui-sans-serif"/>
              </a:rPr>
              <a:t>Al asignar valor: comprueba que los tipos coincidan (no se puede poner un número en una variable de texto, por ejemplo)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400" b="0" dirty="0">
                <a:solidFill>
                  <a:srgbClr val="000000"/>
                </a:solidFill>
                <a:effectLst/>
                <a:latin typeface="ui-sans-serif"/>
              </a:rPr>
              <a:t>Acumula todos los errores encontrados y los devuelve juntos</a:t>
            </a:r>
          </a:p>
          <a:p>
            <a:pPr algn="l"/>
            <a:r>
              <a:rPr lang="es-MX" sz="1400" b="0" dirty="0">
                <a:solidFill>
                  <a:srgbClr val="000000"/>
                </a:solidFill>
                <a:effectLst/>
                <a:latin typeface="ui-sans-serif"/>
              </a:rPr>
              <a:t>En una frase: revisa que no haya variables repetidas, que existan antes de usarlas y que los valores encajen con su tipo.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BB29CB0-303F-4692-9E97-650E57ED7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721" y="3932557"/>
            <a:ext cx="5176519" cy="196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600"/>
              <a:t>Es la estructura para representar cada error detectado en el análisis semántico: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/>
              <a:t>Guarda dónde ocurrió: número de línea y columna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/>
              <a:t>Guarda qué pasó: el texto explicativo del problema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/>
              <a:t>El método toString() lo formatea listo para mostrar: Línea X, columna Y: mensaje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600"/>
              <a:t>En una frase: guarda y presenta cada fallo con su ubicación exacta para saber dónde corregirlo.</a:t>
            </a:r>
          </a:p>
        </p:txBody>
      </p:sp>
    </p:spTree>
    <p:extLst>
      <p:ext uri="{BB962C8B-B14F-4D97-AF65-F5344CB8AC3E}">
        <p14:creationId xmlns:p14="http://schemas.microsoft.com/office/powerpoint/2010/main" val="2148499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645F01B-A08E-4B60-8D68-FA50451D8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52400"/>
            <a:ext cx="5313680" cy="298894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B59C906-FBDA-4E99-933E-AA7E3A771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680" y="3141345"/>
            <a:ext cx="5923280" cy="333184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2A8E559-C6CA-48A1-B375-6234FAE27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322" y="252256"/>
            <a:ext cx="5711937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600" dirty="0"/>
              <a:t>Es la unidad básica de información que produce el analizador léxico: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 dirty="0"/>
              <a:t>Guarda 4 datos: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 dirty="0" err="1"/>
              <a:t>type</a:t>
            </a:r>
            <a:r>
              <a:rPr lang="es-ES" altLang="es-ES" sz="1600" dirty="0"/>
              <a:t>: qué clase de elemento es (palabra reservada, número, símbolo, etc.)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 dirty="0" err="1"/>
              <a:t>lexeme</a:t>
            </a:r>
            <a:r>
              <a:rPr lang="es-ES" altLang="es-ES" sz="1600" dirty="0"/>
              <a:t>: el texto real que aparece en el código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 dirty="0"/>
              <a:t>line y </a:t>
            </a:r>
            <a:r>
              <a:rPr lang="es-ES" altLang="es-ES" sz="1600" dirty="0" err="1"/>
              <a:t>column</a:t>
            </a:r>
            <a:r>
              <a:rPr lang="es-ES" altLang="es-ES" sz="1600" dirty="0"/>
              <a:t>: su ubicación exacta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1600" dirty="0" err="1"/>
              <a:t>toString</a:t>
            </a:r>
            <a:r>
              <a:rPr lang="es-ES" altLang="es-ES" sz="1600" dirty="0"/>
              <a:t>() lo formatea listo para mostrar: TIPO ("texto" [</a:t>
            </a:r>
            <a:r>
              <a:rPr lang="es-ES" altLang="es-ES" sz="1600" dirty="0" err="1"/>
              <a:t>línea:columna</a:t>
            </a:r>
            <a:r>
              <a:rPr lang="es-ES" altLang="es-ES" sz="1600" dirty="0"/>
              <a:t>])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1600" dirty="0"/>
              <a:t>En una frase: es cada "pieza" reconocida del código, con su tipo, su contenido y su posición.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FF2F84F-11FD-443D-8649-06F80CC3F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040" y="3429000"/>
            <a:ext cx="4856480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/>
              <a:t>Es la ficha de cada variable registrada en la tabla de símbolos: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/>
              <a:t>Guarda: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/>
              <a:t>name: nombre de la variable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/>
              <a:t>type: tipo de dato (cadena, número, entero… viene de DataType)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/>
              <a:t>declarationLine: línea donde fue declarada en el código fuente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/>
              <a:t>En una frase: es la entrada que guarda la tabla de símbolos con los datos esenciales de cada variable.</a:t>
            </a:r>
          </a:p>
        </p:txBody>
      </p:sp>
    </p:spTree>
    <p:extLst>
      <p:ext uri="{BB962C8B-B14F-4D97-AF65-F5344CB8AC3E}">
        <p14:creationId xmlns:p14="http://schemas.microsoft.com/office/powerpoint/2010/main" val="3025665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D3D4E26-1ACB-4E32-AB91-CE8A4766B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79" y="1079592"/>
            <a:ext cx="5216173" cy="469881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BCCA1493-CE90-4659-9869-B7EA846C8E29}"/>
              </a:ext>
            </a:extLst>
          </p:cNvPr>
          <p:cNvSpPr txBox="1"/>
          <p:nvPr/>
        </p:nvSpPr>
        <p:spPr>
          <a:xfrm>
            <a:off x="502920" y="301752"/>
            <a:ext cx="108356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dirty="0">
                <a:solidFill>
                  <a:srgbClr val="232323"/>
                </a:solidFill>
                <a:latin typeface="Arial"/>
              </a:rPr>
              <a:t>Desarrollo: </a:t>
            </a:r>
            <a:r>
              <a:rPr sz="2500" b="1" dirty="0" err="1">
                <a:solidFill>
                  <a:srgbClr val="232323"/>
                </a:solidFill>
                <a:latin typeface="Arial"/>
              </a:rPr>
              <a:t>Prueba</a:t>
            </a:r>
            <a:r>
              <a:rPr sz="2500" b="1" dirty="0">
                <a:solidFill>
                  <a:srgbClr val="232323"/>
                </a:solidFill>
                <a:latin typeface="Arial"/>
              </a:rPr>
              <a:t> del </a:t>
            </a:r>
            <a:r>
              <a:rPr sz="2500" b="1" dirty="0" err="1">
                <a:solidFill>
                  <a:srgbClr val="232323"/>
                </a:solidFill>
                <a:latin typeface="Arial"/>
              </a:rPr>
              <a:t>compilador</a:t>
            </a:r>
            <a:r>
              <a:rPr sz="2500" b="1" dirty="0">
                <a:solidFill>
                  <a:srgbClr val="232323"/>
                </a:solidFill>
                <a:latin typeface="Arial"/>
              </a:rPr>
              <a:t> con </a:t>
            </a:r>
            <a:r>
              <a:rPr sz="2500" b="1" dirty="0" err="1">
                <a:solidFill>
                  <a:srgbClr val="232323"/>
                </a:solidFill>
                <a:latin typeface="Arial"/>
              </a:rPr>
              <a:t>errores</a:t>
            </a:r>
            <a:endParaRPr sz="2500" b="1" dirty="0">
              <a:solidFill>
                <a:srgbClr val="232323"/>
              </a:solidFill>
              <a:latin typeface="Arial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4D66792-1E4B-4600-B1EC-4F620EBA3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9144" y="1013350"/>
            <a:ext cx="5058138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/>
              <a:t>Tu analizador sí funcionó perfectamente — te avisó exactamente dónde estaba el fallo: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s-ES" altLang="es-ES" dirty="0"/>
              <a:t>Leyó tu código → reconoció las palabras </a:t>
            </a:r>
            <a:r>
              <a:rPr lang="es-ES" altLang="es-ES" dirty="0" err="1"/>
              <a:t>int</a:t>
            </a:r>
            <a:r>
              <a:rPr lang="es-ES" altLang="es-ES" dirty="0"/>
              <a:t>, edad, el número 25 y el punto y coma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s-ES" altLang="es-ES" dirty="0"/>
              <a:t>Detectó la regla que se rompió → tu sintaxis dice: tipo nombre = valor; → faltó el signo =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s-ES" altLang="es-ES" dirty="0"/>
              <a:t>Te lo dijo con precisión: línea 1, columna 10, y explicó qué faltaba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s-ES" altLang="es-ES" dirty="0"/>
              <a:t>Se detuvo en el momento correcto → no siguió procesando código incompleto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/>
              <a:t>En una frase: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/>
              <a:t>Tu analizador funcionó como debe: identificó el error, te dijo dónde y qué faltaba, y evitó procesar código incorrecto. Eso es exactamente lo que debe hacer un compilador. </a:t>
            </a:r>
          </a:p>
        </p:txBody>
      </p:sp>
    </p:spTree>
    <p:extLst>
      <p:ext uri="{BB962C8B-B14F-4D97-AF65-F5344CB8AC3E}">
        <p14:creationId xmlns:p14="http://schemas.microsoft.com/office/powerpoint/2010/main" val="3413344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E14A3FE-8E53-46D7-B999-31F5F3B26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321" y="578734"/>
            <a:ext cx="3807013" cy="505234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3D1C0D5-A48F-477C-B00D-0AC102F5E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169" y="1077812"/>
            <a:ext cx="4762913" cy="405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833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8FBFF3A-1838-45EB-8D07-9CA0AD165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49" y="260430"/>
            <a:ext cx="4521672" cy="633713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667E667-B68F-4EA2-92A1-6DC9A575D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094" y="1268542"/>
            <a:ext cx="4816257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292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F3ACCB-8537-4A0D-BDA0-A5FD55679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924" y="211636"/>
            <a:ext cx="11024738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sz="3600" dirty="0">
                <a:latin typeface="Arial Black" panose="020B0A04020102020204" pitchFamily="34" charset="0"/>
              </a:rPr>
              <a:t>Conclusión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ES" altLang="es-ES" dirty="0">
              <a:latin typeface="Arial Black" panose="020B0A040201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/>
              <a:t>El desarrollo de este analizador en Java con interfaz </a:t>
            </a:r>
            <a:r>
              <a:rPr lang="es-ES" altLang="es-ES" dirty="0" err="1"/>
              <a:t>JavaFX</a:t>
            </a:r>
            <a:r>
              <a:rPr lang="es-ES" altLang="es-ES" dirty="0"/>
              <a:t> permitió aplicar de forma práctica los conceptos centrales de la teoría de compiladores. Al separar el proyecto en clases independientes (</a:t>
            </a:r>
            <a:r>
              <a:rPr lang="es-ES" altLang="es-ES" dirty="0" err="1"/>
              <a:t>Lexer</a:t>
            </a:r>
            <a:r>
              <a:rPr lang="es-ES" altLang="es-ES" dirty="0"/>
              <a:t>, </a:t>
            </a:r>
            <a:r>
              <a:rPr lang="es-ES" altLang="es-ES" dirty="0" err="1"/>
              <a:t>Parser</a:t>
            </a:r>
            <a:r>
              <a:rPr lang="es-ES" altLang="es-ES" dirty="0"/>
              <a:t>, </a:t>
            </a:r>
            <a:r>
              <a:rPr lang="es-ES" altLang="es-ES" dirty="0" err="1"/>
              <a:t>SemanticAnalyzer</a:t>
            </a:r>
            <a:r>
              <a:rPr lang="es-ES" altLang="es-ES" dirty="0"/>
              <a:t> y </a:t>
            </a:r>
            <a:r>
              <a:rPr lang="es-ES" altLang="es-ES" dirty="0" err="1"/>
              <a:t>CodeGenerator</a:t>
            </a:r>
            <a:r>
              <a:rPr lang="es-ES" altLang="es-ES" dirty="0"/>
              <a:t>), se comprobó que cada fase cumple una función específica y que el resultado de una etapa es la entrada de la siguiente.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/>
              <a:t>El análisis léxico, que es la base del proceso, logró descomponer el código fuente en tokens con su tipo, lexema, línea y columna. Esta información permite al resto del compilador interpretar el programa y ubicar con precisión cualquier error. El análisis sintáctico verificó que las instrucciones respeten la estructura del lenguaje, y el análisis semántico, apoyado en la tabla de símbolos, detectó errores que no son visibles a nivel de sintaxis, como variables repetidas, variables no declaradas, tipos incompatibles y divisiones entre cero.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/>
              <a:t>La interfaz gráfica fue de gran ayuda, porque muestra en pestañas separadas los tokens, la tabla de símbolos, los mensajes de error y el código objeto. Así se puede seguir cada fase del proceso de forma visual, algo que resulta difícil de apreciar solo con teoría.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/>
              <a:t>Durante las pruebas se identificó que el compilador reconoce un subconjunto del lenguaje: los tipos </a:t>
            </a:r>
            <a:r>
              <a:rPr lang="es-ES" altLang="es-ES" dirty="0" err="1"/>
              <a:t>int</a:t>
            </a:r>
            <a:r>
              <a:rPr lang="es-ES" altLang="es-ES" dirty="0"/>
              <a:t>, </a:t>
            </a:r>
            <a:r>
              <a:rPr lang="es-ES" altLang="es-ES" dirty="0" err="1"/>
              <a:t>double</a:t>
            </a:r>
            <a:r>
              <a:rPr lang="es-ES" altLang="es-ES" dirty="0"/>
              <a:t> y </a:t>
            </a:r>
            <a:r>
              <a:rPr lang="es-ES" altLang="es-ES" dirty="0" err="1"/>
              <a:t>string</a:t>
            </a:r>
            <a:r>
              <a:rPr lang="es-ES" altLang="es-ES" dirty="0"/>
              <a:t>, declaraciones con valor inicial, asignaciones, expresiones aritméticas y la instrucción </a:t>
            </a:r>
            <a:r>
              <a:rPr lang="es-ES" altLang="es-ES" dirty="0" err="1"/>
              <a:t>print</a:t>
            </a:r>
            <a:r>
              <a:rPr lang="es-ES" altLang="es-ES" dirty="0"/>
              <a:t>. Esto abre la posibilidad de ampliarlo en trabajos futuros con estructuras de control como condicionales y ciclos (</a:t>
            </a:r>
            <a:r>
              <a:rPr lang="es-ES" altLang="es-ES" dirty="0" err="1"/>
              <a:t>if</a:t>
            </a:r>
            <a:r>
              <a:rPr lang="es-ES" altLang="es-ES" dirty="0"/>
              <a:t>, </a:t>
            </a:r>
            <a:r>
              <a:rPr lang="es-ES" altLang="es-ES" dirty="0" err="1"/>
              <a:t>while</a:t>
            </a:r>
            <a:r>
              <a:rPr lang="es-ES" altLang="es-ES" dirty="0"/>
              <a:t>), operadores relacionales, declaraciones sin valor inicial y concatenación de cadenas.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altLang="es-ES" dirty="0"/>
              <a:t>En conclusión, el proyecto cumplió su objetivo de mostrar el funcionamiento de un compilador de forma clara y funcional. Además, dejó una base sólida y ampliable para seguir profundizando en el diseño de lenguajes y en la construcción de compiladores.</a:t>
            </a:r>
          </a:p>
        </p:txBody>
      </p:sp>
    </p:spTree>
    <p:extLst>
      <p:ext uri="{BB962C8B-B14F-4D97-AF65-F5344CB8AC3E}">
        <p14:creationId xmlns:p14="http://schemas.microsoft.com/office/powerpoint/2010/main" val="1570274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FDBB47-A1FB-4F16-87A5-A1F81104903A}"/>
              </a:ext>
            </a:extLst>
          </p:cNvPr>
          <p:cNvSpPr txBox="1"/>
          <p:nvPr/>
        </p:nvSpPr>
        <p:spPr>
          <a:xfrm>
            <a:off x="853440" y="2316480"/>
            <a:ext cx="555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Enlace de Git: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967344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1892</Words>
  <Application>Microsoft Office PowerPoint</Application>
  <PresentationFormat>Panorámica</PresentationFormat>
  <Paragraphs>130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ui-sans-serif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joselopezmanuel200@gmail.com</dc:creator>
  <cp:lastModifiedBy>joselopezmanuel200@gmail.com</cp:lastModifiedBy>
  <cp:revision>5</cp:revision>
  <dcterms:created xsi:type="dcterms:W3CDTF">2026-10-04T06:25:41Z</dcterms:created>
  <dcterms:modified xsi:type="dcterms:W3CDTF">2026-10-04T06:54:34Z</dcterms:modified>
</cp:coreProperties>
</file>